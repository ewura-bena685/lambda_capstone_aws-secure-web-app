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59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0789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I'm here to get agreement on the architecture and cost guardrails before we build. I'll show the problem, the design, how it's secured, how we deploy and monitor it, and the decisions I need from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rows. Stress that nothing in the design is decorative: each service answers one symptom, and each has a test that shows the improvement. We will not promise a speed figure until we measure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left to right using the red numbers: 1 user to CloudFront, 2 CloudFront to ALB over HTTPS, 3 static files from S3, 4 ALB to a healthy instance, 5 deployment path from GitHub. Note two AZs, no single point of failure on the request path.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S3 is a branch from CloudFront, not step five after EC2. Emphasise that I considered simpler options and rejected them for specific reasons.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certificates: us-east-1 for CloudFront and a regional one for the ALB. Be upfront about the HTTP hop between ALB and EC2 and that it is a conscious trade-off.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that SSM with OIDC is my recommendation; if the mentor requires SSH we restrict and document the risk. Name the costs that are not free so nobody is surprised.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explicit approval of each row. Record the decisions and owners on Trello and in the repo docs.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731520" y="1371600"/>
            <a:ext cx="10058400" cy="365760"/>
          </a:xfrm>
          <a:prstGeom prst="rect">
            <a:avLst/>
          </a:prstGeom>
          <a:noFill/>
          <a:ln/>
        </p:spPr>
        <p:txBody>
          <a:bodyPr wrap="square" lIns="0" tIns="0" rIns="0" bIns="0" rtlCol="0" anchor="ctr"/>
          <a:lstStyle/>
          <a:p>
            <a:pPr marL="0" indent="0">
              <a:buNone/>
            </a:pPr>
            <a:r>
              <a:rPr lang="en-US" sz="1600" b="1" kern="0" spc="400" dirty="0">
                <a:solidFill>
                  <a:srgbClr val="FB923C"/>
                </a:solidFill>
                <a:latin typeface="Arial" pitchFamily="34" charset="0"/>
                <a:ea typeface="Arial" pitchFamily="34" charset="-122"/>
                <a:cs typeface="Arial" pitchFamily="34" charset="-120"/>
              </a:rPr>
              <a:t>CLOUD ARCHITECTURE PROPOSAL</a:t>
            </a:r>
            <a:endParaRPr lang="en-US" sz="1600" dirty="0"/>
          </a:p>
        </p:txBody>
      </p:sp>
      <p:sp>
        <p:nvSpPr>
          <p:cNvPr id="3" name="Text 1"/>
          <p:cNvSpPr txBox="1"/>
          <p:nvPr/>
        </p:nvSpPr>
        <p:spPr>
          <a:xfrm>
            <a:off x="731520" y="1828800"/>
            <a:ext cx="10515600" cy="1188720"/>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Secure, Scalable Web Application on AWS</a:t>
            </a:r>
            <a:endParaRPr lang="en-US" sz="4200" dirty="0"/>
          </a:p>
        </p:txBody>
      </p:sp>
      <p:sp>
        <p:nvSpPr>
          <p:cNvPr id="4" name="Text 2"/>
          <p:cNvSpPr txBox="1"/>
          <p:nvPr/>
        </p:nvSpPr>
        <p:spPr>
          <a:xfrm>
            <a:off x="731520" y="3108960"/>
            <a:ext cx="10058400" cy="731520"/>
          </a:xfrm>
          <a:prstGeom prst="rect">
            <a:avLst/>
          </a:prstGeom>
          <a:noFill/>
          <a:ln/>
        </p:spPr>
        <p:txBody>
          <a:bodyPr wrap="square" lIns="0" tIns="0" rIns="0" bIns="0" rtlCol="0" anchor="ctr"/>
          <a:lstStyle/>
          <a:p>
            <a:pPr marL="0" indent="0">
              <a:buNone/>
            </a:pPr>
            <a:r>
              <a:rPr lang="en-US" sz="2000" dirty="0">
                <a:solidFill>
                  <a:srgbClr val="CBD5E1"/>
                </a:solidFill>
                <a:latin typeface="Arial" pitchFamily="34" charset="0"/>
                <a:ea typeface="Arial" pitchFamily="34" charset="-122"/>
                <a:cs typeface="Arial" pitchFamily="34" charset="-120"/>
              </a:rPr>
              <a:t>Fast to reach, resilient under load, safe to access, repeatable to deploy, and inside budget.</a:t>
            </a:r>
            <a:endParaRPr lang="en-US" sz="2000" dirty="0"/>
          </a:p>
        </p:txBody>
      </p:sp>
      <p:sp>
        <p:nvSpPr>
          <p:cNvPr id="5" name="Shape 3"/>
          <p:cNvSpPr/>
          <p:nvPr/>
        </p:nvSpPr>
        <p:spPr>
          <a:xfrm>
            <a:off x="731520" y="4297680"/>
            <a:ext cx="1965960" cy="502920"/>
          </a:xfrm>
          <a:prstGeom prst="roundRect">
            <a:avLst>
              <a:gd name="adj" fmla="val 18182"/>
            </a:avLst>
          </a:prstGeom>
          <a:solidFill>
            <a:srgbClr val="EA580C"/>
          </a:solidFill>
          <a:ln w="12700">
            <a:solidFill>
              <a:srgbClr val="EA580C"/>
            </a:solidFill>
            <a:prstDash val="solid"/>
          </a:ln>
        </p:spPr>
      </p:sp>
      <p:sp>
        <p:nvSpPr>
          <p:cNvPr id="6" name="Text 4"/>
          <p:cNvSpPr txBox="1"/>
          <p:nvPr/>
        </p:nvSpPr>
        <p:spPr>
          <a:xfrm>
            <a:off x="731520" y="4297680"/>
            <a:ext cx="19659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CloudFront</a:t>
            </a:r>
            <a:endParaRPr lang="en-US" sz="1300" dirty="0"/>
          </a:p>
        </p:txBody>
      </p:sp>
      <p:sp>
        <p:nvSpPr>
          <p:cNvPr id="7" name="Shape 5"/>
          <p:cNvSpPr/>
          <p:nvPr/>
        </p:nvSpPr>
        <p:spPr>
          <a:xfrm>
            <a:off x="2880360" y="4297680"/>
            <a:ext cx="1965960" cy="502920"/>
          </a:xfrm>
          <a:prstGeom prst="roundRect">
            <a:avLst>
              <a:gd name="adj" fmla="val 18182"/>
            </a:avLst>
          </a:prstGeom>
          <a:solidFill>
            <a:srgbClr val="2563EB"/>
          </a:solidFill>
          <a:ln w="12700">
            <a:solidFill>
              <a:srgbClr val="2563EB"/>
            </a:solidFill>
            <a:prstDash val="solid"/>
          </a:ln>
        </p:spPr>
      </p:sp>
      <p:sp>
        <p:nvSpPr>
          <p:cNvPr id="8" name="Text 6"/>
          <p:cNvSpPr txBox="1"/>
          <p:nvPr/>
        </p:nvSpPr>
        <p:spPr>
          <a:xfrm>
            <a:off x="2880360" y="4297680"/>
            <a:ext cx="19659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ALB</a:t>
            </a:r>
            <a:endParaRPr lang="en-US" sz="1300" dirty="0"/>
          </a:p>
        </p:txBody>
      </p:sp>
      <p:sp>
        <p:nvSpPr>
          <p:cNvPr id="9" name="Shape 7"/>
          <p:cNvSpPr/>
          <p:nvPr/>
        </p:nvSpPr>
        <p:spPr>
          <a:xfrm>
            <a:off x="5029200" y="4297680"/>
            <a:ext cx="1965960" cy="502920"/>
          </a:xfrm>
          <a:prstGeom prst="roundRect">
            <a:avLst>
              <a:gd name="adj" fmla="val 18182"/>
            </a:avLst>
          </a:prstGeom>
          <a:solidFill>
            <a:srgbClr val="0E7490"/>
          </a:solidFill>
          <a:ln w="12700">
            <a:solidFill>
              <a:srgbClr val="0E7490"/>
            </a:solidFill>
            <a:prstDash val="solid"/>
          </a:ln>
        </p:spPr>
      </p:sp>
      <p:sp>
        <p:nvSpPr>
          <p:cNvPr id="10" name="Text 8"/>
          <p:cNvSpPr txBox="1"/>
          <p:nvPr/>
        </p:nvSpPr>
        <p:spPr>
          <a:xfrm>
            <a:off x="5029200" y="4297680"/>
            <a:ext cx="19659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EC2 + Auto Scaling</a:t>
            </a:r>
            <a:endParaRPr lang="en-US" sz="1300" dirty="0"/>
          </a:p>
        </p:txBody>
      </p:sp>
      <p:sp>
        <p:nvSpPr>
          <p:cNvPr id="11" name="Shape 9"/>
          <p:cNvSpPr/>
          <p:nvPr/>
        </p:nvSpPr>
        <p:spPr>
          <a:xfrm>
            <a:off x="7178040" y="4297680"/>
            <a:ext cx="1965960" cy="502920"/>
          </a:xfrm>
          <a:prstGeom prst="roundRect">
            <a:avLst>
              <a:gd name="adj" fmla="val 18182"/>
            </a:avLst>
          </a:prstGeom>
          <a:solidFill>
            <a:srgbClr val="15803D"/>
          </a:solidFill>
          <a:ln w="12700">
            <a:solidFill>
              <a:srgbClr val="15803D"/>
            </a:solidFill>
            <a:prstDash val="solid"/>
          </a:ln>
        </p:spPr>
      </p:sp>
      <p:sp>
        <p:nvSpPr>
          <p:cNvPr id="12" name="Text 10"/>
          <p:cNvSpPr txBox="1"/>
          <p:nvPr/>
        </p:nvSpPr>
        <p:spPr>
          <a:xfrm>
            <a:off x="7178040" y="4297680"/>
            <a:ext cx="19659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Private S3</a:t>
            </a:r>
            <a:endParaRPr lang="en-US" sz="1300" dirty="0"/>
          </a:p>
        </p:txBody>
      </p:sp>
      <p:sp>
        <p:nvSpPr>
          <p:cNvPr id="13" name="Shape 11"/>
          <p:cNvSpPr/>
          <p:nvPr/>
        </p:nvSpPr>
        <p:spPr>
          <a:xfrm>
            <a:off x="9326880" y="4297680"/>
            <a:ext cx="1965960" cy="502920"/>
          </a:xfrm>
          <a:prstGeom prst="roundRect">
            <a:avLst>
              <a:gd name="adj" fmla="val 18182"/>
            </a:avLst>
          </a:prstGeom>
          <a:solidFill>
            <a:srgbClr val="374151"/>
          </a:solidFill>
          <a:ln w="12700">
            <a:solidFill>
              <a:srgbClr val="374151"/>
            </a:solidFill>
            <a:prstDash val="solid"/>
          </a:ln>
        </p:spPr>
      </p:sp>
      <p:sp>
        <p:nvSpPr>
          <p:cNvPr id="14" name="Text 12"/>
          <p:cNvSpPr txBox="1"/>
          <p:nvPr/>
        </p:nvSpPr>
        <p:spPr>
          <a:xfrm>
            <a:off x="9326880" y="4297680"/>
            <a:ext cx="19659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GitHub Actions</a:t>
            </a:r>
            <a:endParaRPr lang="en-US" sz="1300" dirty="0"/>
          </a:p>
        </p:txBody>
      </p:sp>
      <p:sp>
        <p:nvSpPr>
          <p:cNvPr id="15" name="Text 13"/>
          <p:cNvSpPr txBox="1"/>
          <p:nvPr/>
        </p:nvSpPr>
        <p:spPr>
          <a:xfrm>
            <a:off x="731520" y="5943600"/>
            <a:ext cx="10058400" cy="365760"/>
          </a:xfrm>
          <a:prstGeom prst="rect">
            <a:avLst/>
          </a:prstGeom>
          <a:noFill/>
          <a:ln/>
        </p:spPr>
        <p:txBody>
          <a:bodyPr wrap="square" lIns="0" tIns="0" rIns="0" bIns="0" rtlCol="0" anchor="ctr"/>
          <a:lstStyle/>
          <a:p>
            <a:pPr marL="0" indent="0">
              <a:buNone/>
            </a:pPr>
            <a:r>
              <a:rPr lang="en-US" sz="1400" dirty="0">
                <a:solidFill>
                  <a:srgbClr val="94A3B8"/>
                </a:solidFill>
                <a:latin typeface="Arial" pitchFamily="34" charset="0"/>
                <a:ea typeface="Arial" pitchFamily="34" charset="-122"/>
                <a:cs typeface="Arial" pitchFamily="34" charset="-120"/>
              </a:rPr>
              <a:t>Presented by: Cloud Architect   |   Purpose: agree the design before implementation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The customer's problems and our design response</a:t>
            </a:r>
            <a:endParaRPr lang="en-US" sz="2800" dirty="0"/>
          </a:p>
        </p:txBody>
      </p:sp>
      <p:sp>
        <p:nvSpPr>
          <p:cNvPr id="3" name="Shape 1"/>
          <p:cNvSpPr/>
          <p:nvPr/>
        </p:nvSpPr>
        <p:spPr>
          <a:xfrm>
            <a:off x="457200" y="914400"/>
            <a:ext cx="1097280" cy="64008"/>
          </a:xfrm>
          <a:prstGeom prst="rect">
            <a:avLst/>
          </a:prstGeom>
          <a:solidFill>
            <a:srgbClr val="EA580C"/>
          </a:solidFill>
          <a:ln w="12700">
            <a:solidFill>
              <a:srgbClr val="EA580C"/>
            </a:solidFill>
            <a:prstDash val="solid"/>
          </a:ln>
        </p:spPr>
      </p:sp>
      <p:sp>
        <p:nvSpPr>
          <p:cNvPr id="4" name="Text 2"/>
          <p:cNvSpPr txBox="1"/>
          <p:nvPr/>
        </p:nvSpPr>
        <p:spPr>
          <a:xfrm>
            <a:off x="457200" y="1051560"/>
            <a:ext cx="11247120" cy="365760"/>
          </a:xfrm>
          <a:prstGeom prst="rect">
            <a:avLst/>
          </a:prstGeom>
          <a:noFill/>
          <a:ln/>
        </p:spPr>
        <p:txBody>
          <a:bodyPr wrap="square" lIns="0" tIns="0" rIns="0" bIns="0" rtlCol="0" anchor="ctr"/>
          <a:lstStyle/>
          <a:p>
            <a:pPr marL="0" indent="0">
              <a:buNone/>
            </a:pPr>
            <a:r>
              <a:rPr lang="en-US" sz="1400" i="1" dirty="0">
                <a:solidFill>
                  <a:srgbClr val="6B7280"/>
                </a:solidFill>
                <a:latin typeface="Arial" pitchFamily="34" charset="0"/>
                <a:ea typeface="Arial" pitchFamily="34" charset="-122"/>
                <a:cs typeface="Arial" pitchFamily="34" charset="-120"/>
              </a:rPr>
              <a:t>Every component exists because of a specific symptom</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4712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731520">
                <a:tc>
                  <a:txBody>
                    <a:bodyPr/>
                    <a:lstStyle/>
                    <a:p>
                      <a:pPr marL="0" indent="0">
                        <a:buNone/>
                      </a:pPr>
                      <a:r>
                        <a:rPr lang="en-US" sz="1250" b="1" dirty="0">
                          <a:solidFill>
                            <a:srgbClr val="FFFFFF"/>
                          </a:solidFill>
                          <a:latin typeface="Arial" pitchFamily="34" charset="0"/>
                          <a:ea typeface="Arial" pitchFamily="34" charset="-122"/>
                          <a:cs typeface="Arial" pitchFamily="34" charset="-120"/>
                        </a:rPr>
                        <a:t>Customer problem</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Design response</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How we will prove it</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31520">
                <a:tc>
                  <a:txBody>
                    <a:bodyPr/>
                    <a:lstStyle/>
                    <a:p>
                      <a:pPr marL="0" indent="0">
                        <a:buNone/>
                      </a:pPr>
                      <a:r>
                        <a:rPr lang="en-US" sz="1200" b="1" dirty="0">
                          <a:solidFill>
                            <a:srgbClr val="1F2937"/>
                          </a:solidFill>
                          <a:latin typeface="Arial" pitchFamily="34" charset="0"/>
                          <a:ea typeface="Arial" pitchFamily="34" charset="-122"/>
                          <a:cs typeface="Arial" pitchFamily="34" charset="-120"/>
                        </a:rPr>
                        <a:t>Slow page loads</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CloudFront edge caching + static files in S3</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Before/after page-load tests; cache-hit headers</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200" b="1" dirty="0">
                          <a:solidFill>
                            <a:srgbClr val="1F2937"/>
                          </a:solidFill>
                          <a:latin typeface="Arial" pitchFamily="34" charset="0"/>
                          <a:ea typeface="Arial" pitchFamily="34" charset="-122"/>
                          <a:cs typeface="Arial" pitchFamily="34" charset="-120"/>
                        </a:rPr>
                        <a:t>Unavailable at peak traffic</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ALB + Auto Scaling Group (min 1 / desired 2 / max 3) across 2 Availability Zones</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Stop one instance: traffic continues on the other</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200" b="1" dirty="0">
                          <a:solidFill>
                            <a:srgbClr val="1F2937"/>
                          </a:solidFill>
                          <a:latin typeface="Arial" pitchFamily="34" charset="0"/>
                          <a:ea typeface="Arial" pitchFamily="34" charset="-122"/>
                          <a:cs typeface="Arial" pitchFamily="34" charset="-120"/>
                        </a:rPr>
                        <a:t>Security concerns</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HTTPS (ACM), CloudFront-only access, scoped security groups, private S3, IAM least privilege</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curl tests; direct ALB and S3 access blocked</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731520">
                <a:tc>
                  <a:txBody>
                    <a:bodyPr/>
                    <a:lstStyle/>
                    <a:p>
                      <a:pPr marL="0" indent="0">
                        <a:buNone/>
                      </a:pPr>
                      <a:r>
                        <a:rPr lang="en-US" sz="1200" b="1" dirty="0">
                          <a:solidFill>
                            <a:srgbClr val="1F2937"/>
                          </a:solidFill>
                          <a:latin typeface="Arial" pitchFamily="34" charset="0"/>
                          <a:ea typeface="Arial" pitchFamily="34" charset="-122"/>
                          <a:cs typeface="Arial" pitchFamily="34" charset="-120"/>
                        </a:rPr>
                        <a:t>No deployment process</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GitHub branching + PRs + GitHub Actions</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Push to main updates the live site</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731520">
                <a:tc>
                  <a:txBody>
                    <a:bodyPr/>
                    <a:lstStyle/>
                    <a:p>
                      <a:pPr marL="0" indent="0">
                        <a:buNone/>
                      </a:pPr>
                      <a:r>
                        <a:rPr lang="en-US" sz="1200" b="1" dirty="0">
                          <a:solidFill>
                            <a:srgbClr val="1F2937"/>
                          </a:solidFill>
                          <a:latin typeface="Arial" pitchFamily="34" charset="0"/>
                          <a:ea typeface="Arial" pitchFamily="34" charset="-122"/>
                          <a:cs typeface="Arial" pitchFamily="34" charset="-120"/>
                        </a:rPr>
                        <a:t>Limited budget, future growth</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Free Tier-sized instances, ASG caps, AWS Budgets alerts, modular design</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Budget alert active; cleanup owner named</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Target architecture</a:t>
            </a:r>
            <a:endParaRPr lang="en-US" sz="2800" dirty="0"/>
          </a:p>
        </p:txBody>
      </p:sp>
      <p:sp>
        <p:nvSpPr>
          <p:cNvPr id="3" name="Shape 1"/>
          <p:cNvSpPr/>
          <p:nvPr/>
        </p:nvSpPr>
        <p:spPr>
          <a:xfrm>
            <a:off x="457200" y="914400"/>
            <a:ext cx="1097280" cy="64008"/>
          </a:xfrm>
          <a:prstGeom prst="rect">
            <a:avLst/>
          </a:prstGeom>
          <a:solidFill>
            <a:srgbClr val="EA580C"/>
          </a:solidFill>
          <a:ln w="12700">
            <a:solidFill>
              <a:srgbClr val="EA580C"/>
            </a:solidFill>
            <a:prstDash val="solid"/>
          </a:ln>
        </p:spPr>
      </p:sp>
      <p:pic>
        <p:nvPicPr>
          <p:cNvPr id="4" name="Image 0" descr="architecture.png"/>
          <p:cNvPicPr>
            <a:picLocks noChangeAspect="1"/>
          </p:cNvPicPr>
          <p:nvPr/>
        </p:nvPicPr>
        <p:blipFill>
          <a:blip r:embed="rId3"/>
          <a:stretch>
            <a:fillRect/>
          </a:stretch>
        </p:blipFill>
        <p:spPr>
          <a:xfrm>
            <a:off x="365760" y="1097280"/>
            <a:ext cx="8686800" cy="5358384"/>
          </a:xfrm>
          <a:prstGeom prst="rect">
            <a:avLst/>
          </a:prstGeom>
        </p:spPr>
      </p:pic>
      <p:sp>
        <p:nvSpPr>
          <p:cNvPr id="5" name="Shape 2"/>
          <p:cNvSpPr/>
          <p:nvPr/>
        </p:nvSpPr>
        <p:spPr>
          <a:xfrm>
            <a:off x="9235440" y="1188720"/>
            <a:ext cx="2560320" cy="1325880"/>
          </a:xfrm>
          <a:prstGeom prst="rect">
            <a:avLst/>
          </a:prstGeom>
          <a:solidFill>
            <a:srgbClr val="F3F4F6"/>
          </a:solidFill>
          <a:ln w="9525">
            <a:solidFill>
              <a:srgbClr val="D1D5DB"/>
            </a:solidFill>
            <a:prstDash val="solid"/>
          </a:ln>
        </p:spPr>
      </p:sp>
      <p:sp>
        <p:nvSpPr>
          <p:cNvPr id="6" name="Shape 3"/>
          <p:cNvSpPr/>
          <p:nvPr/>
        </p:nvSpPr>
        <p:spPr>
          <a:xfrm>
            <a:off x="9235440" y="1188720"/>
            <a:ext cx="82296" cy="1325880"/>
          </a:xfrm>
          <a:prstGeom prst="rect">
            <a:avLst/>
          </a:prstGeom>
          <a:solidFill>
            <a:srgbClr val="EA580C"/>
          </a:solidFill>
          <a:ln w="12700">
            <a:solidFill>
              <a:srgbClr val="EA580C"/>
            </a:solidFill>
            <a:prstDash val="solid"/>
          </a:ln>
        </p:spPr>
      </p:sp>
      <p:sp>
        <p:nvSpPr>
          <p:cNvPr id="7" name="Text 4"/>
          <p:cNvSpPr txBox="1"/>
          <p:nvPr/>
        </p:nvSpPr>
        <p:spPr>
          <a:xfrm>
            <a:off x="9464040" y="1280160"/>
            <a:ext cx="2194560" cy="365760"/>
          </a:xfrm>
          <a:prstGeom prst="rect">
            <a:avLst/>
          </a:prstGeom>
          <a:noFill/>
          <a:ln/>
        </p:spPr>
        <p:txBody>
          <a:bodyPr wrap="square" lIns="0" tIns="0" rIns="0" bIns="0" rtlCol="0" anchor="ctr"/>
          <a:lstStyle/>
          <a:p>
            <a:pPr marL="0" indent="0">
              <a:buNone/>
            </a:pPr>
            <a:r>
              <a:rPr lang="en-US" sz="1500" b="1" dirty="0">
                <a:solidFill>
                  <a:srgbClr val="EA580C"/>
                </a:solidFill>
                <a:latin typeface="Arial" pitchFamily="34" charset="0"/>
                <a:ea typeface="Arial" pitchFamily="34" charset="-122"/>
                <a:cs typeface="Arial" pitchFamily="34" charset="-120"/>
              </a:rPr>
              <a:t>Edge</a:t>
            </a:r>
            <a:endParaRPr lang="en-US" sz="1500" dirty="0"/>
          </a:p>
        </p:txBody>
      </p:sp>
      <p:sp>
        <p:nvSpPr>
          <p:cNvPr id="8" name="Text 5"/>
          <p:cNvSpPr txBox="1"/>
          <p:nvPr/>
        </p:nvSpPr>
        <p:spPr>
          <a:xfrm>
            <a:off x="9464040" y="1664208"/>
            <a:ext cx="2194560" cy="77724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CloudFront is the only public entry: HTTPS, caching, HTTP→HTTPS.</a:t>
            </a:r>
            <a:endParaRPr lang="en-US" sz="1250" dirty="0"/>
          </a:p>
        </p:txBody>
      </p:sp>
      <p:sp>
        <p:nvSpPr>
          <p:cNvPr id="9" name="Shape 6"/>
          <p:cNvSpPr/>
          <p:nvPr/>
        </p:nvSpPr>
        <p:spPr>
          <a:xfrm>
            <a:off x="9235440" y="2651760"/>
            <a:ext cx="2560320" cy="1325880"/>
          </a:xfrm>
          <a:prstGeom prst="rect">
            <a:avLst/>
          </a:prstGeom>
          <a:solidFill>
            <a:srgbClr val="F3F4F6"/>
          </a:solidFill>
          <a:ln w="9525">
            <a:solidFill>
              <a:srgbClr val="D1D5DB"/>
            </a:solidFill>
            <a:prstDash val="solid"/>
          </a:ln>
        </p:spPr>
      </p:sp>
      <p:sp>
        <p:nvSpPr>
          <p:cNvPr id="10" name="Shape 7"/>
          <p:cNvSpPr/>
          <p:nvPr/>
        </p:nvSpPr>
        <p:spPr>
          <a:xfrm>
            <a:off x="9235440" y="2651760"/>
            <a:ext cx="82296" cy="1325880"/>
          </a:xfrm>
          <a:prstGeom prst="rect">
            <a:avLst/>
          </a:prstGeom>
          <a:solidFill>
            <a:srgbClr val="2563EB"/>
          </a:solidFill>
          <a:ln w="12700">
            <a:solidFill>
              <a:srgbClr val="2563EB"/>
            </a:solidFill>
            <a:prstDash val="solid"/>
          </a:ln>
        </p:spPr>
      </p:sp>
      <p:sp>
        <p:nvSpPr>
          <p:cNvPr id="11" name="Text 8"/>
          <p:cNvSpPr txBox="1"/>
          <p:nvPr/>
        </p:nvSpPr>
        <p:spPr>
          <a:xfrm>
            <a:off x="9464040" y="2743200"/>
            <a:ext cx="2194560" cy="365760"/>
          </a:xfrm>
          <a:prstGeom prst="rect">
            <a:avLst/>
          </a:prstGeom>
          <a:noFill/>
          <a:ln/>
        </p:spPr>
        <p:txBody>
          <a:bodyPr wrap="square" lIns="0" tIns="0" rIns="0" bIns="0" rtlCol="0" anchor="ctr"/>
          <a:lstStyle/>
          <a:p>
            <a:pPr marL="0" indent="0">
              <a:buNone/>
            </a:pPr>
            <a:r>
              <a:rPr lang="en-US" sz="1500" b="1" dirty="0">
                <a:solidFill>
                  <a:srgbClr val="2563EB"/>
                </a:solidFill>
                <a:latin typeface="Arial" pitchFamily="34" charset="0"/>
                <a:ea typeface="Arial" pitchFamily="34" charset="-122"/>
                <a:cs typeface="Arial" pitchFamily="34" charset="-120"/>
              </a:rPr>
              <a:t>Compute</a:t>
            </a:r>
            <a:endParaRPr lang="en-US" sz="1500" dirty="0"/>
          </a:p>
        </p:txBody>
      </p:sp>
      <p:sp>
        <p:nvSpPr>
          <p:cNvPr id="12" name="Text 9"/>
          <p:cNvSpPr txBox="1"/>
          <p:nvPr/>
        </p:nvSpPr>
        <p:spPr>
          <a:xfrm>
            <a:off x="9464040" y="3127248"/>
            <a:ext cx="2194560" cy="77724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ALB + ASG in two AZs; health checks replace failed servers.</a:t>
            </a:r>
            <a:endParaRPr lang="en-US" sz="1250" dirty="0"/>
          </a:p>
        </p:txBody>
      </p:sp>
      <p:sp>
        <p:nvSpPr>
          <p:cNvPr id="13" name="Shape 10"/>
          <p:cNvSpPr/>
          <p:nvPr/>
        </p:nvSpPr>
        <p:spPr>
          <a:xfrm>
            <a:off x="9235440" y="4114800"/>
            <a:ext cx="2560320" cy="1051560"/>
          </a:xfrm>
          <a:prstGeom prst="rect">
            <a:avLst/>
          </a:prstGeom>
          <a:solidFill>
            <a:srgbClr val="F3F4F6"/>
          </a:solidFill>
          <a:ln w="9525">
            <a:solidFill>
              <a:srgbClr val="D1D5DB"/>
            </a:solidFill>
            <a:prstDash val="solid"/>
          </a:ln>
        </p:spPr>
      </p:sp>
      <p:sp>
        <p:nvSpPr>
          <p:cNvPr id="14" name="Shape 11"/>
          <p:cNvSpPr/>
          <p:nvPr/>
        </p:nvSpPr>
        <p:spPr>
          <a:xfrm>
            <a:off x="9235440" y="4114800"/>
            <a:ext cx="82296" cy="1051560"/>
          </a:xfrm>
          <a:prstGeom prst="rect">
            <a:avLst/>
          </a:prstGeom>
          <a:solidFill>
            <a:srgbClr val="15803D"/>
          </a:solidFill>
          <a:ln w="12700">
            <a:solidFill>
              <a:srgbClr val="15803D"/>
            </a:solidFill>
            <a:prstDash val="solid"/>
          </a:ln>
        </p:spPr>
      </p:sp>
      <p:sp>
        <p:nvSpPr>
          <p:cNvPr id="15" name="Text 12"/>
          <p:cNvSpPr txBox="1"/>
          <p:nvPr/>
        </p:nvSpPr>
        <p:spPr>
          <a:xfrm>
            <a:off x="9464040" y="4206240"/>
            <a:ext cx="2194560" cy="365760"/>
          </a:xfrm>
          <a:prstGeom prst="rect">
            <a:avLst/>
          </a:prstGeom>
          <a:noFill/>
          <a:ln/>
        </p:spPr>
        <p:txBody>
          <a:bodyPr wrap="square" lIns="0" tIns="0" rIns="0" bIns="0" rtlCol="0" anchor="ctr"/>
          <a:lstStyle/>
          <a:p>
            <a:pPr marL="0" indent="0">
              <a:buNone/>
            </a:pPr>
            <a:r>
              <a:rPr lang="en-US" sz="1500" b="1" dirty="0">
                <a:solidFill>
                  <a:srgbClr val="15803D"/>
                </a:solidFill>
                <a:latin typeface="Arial" pitchFamily="34" charset="0"/>
                <a:ea typeface="Arial" pitchFamily="34" charset="-122"/>
                <a:cs typeface="Arial" pitchFamily="34" charset="-120"/>
              </a:rPr>
              <a:t>Storage</a:t>
            </a:r>
            <a:endParaRPr lang="en-US" sz="1500" dirty="0"/>
          </a:p>
        </p:txBody>
      </p:sp>
      <p:sp>
        <p:nvSpPr>
          <p:cNvPr id="16" name="Text 13"/>
          <p:cNvSpPr txBox="1"/>
          <p:nvPr/>
        </p:nvSpPr>
        <p:spPr>
          <a:xfrm>
            <a:off x="9464040" y="4590288"/>
            <a:ext cx="2194560" cy="50292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Private S3 via OAC for /static/*.</a:t>
            </a:r>
            <a:endParaRPr lang="en-US" sz="1250" dirty="0"/>
          </a:p>
        </p:txBody>
      </p:sp>
      <p:sp>
        <p:nvSpPr>
          <p:cNvPr id="17" name="Shape 14"/>
          <p:cNvSpPr/>
          <p:nvPr/>
        </p:nvSpPr>
        <p:spPr>
          <a:xfrm>
            <a:off x="9235440" y="5303520"/>
            <a:ext cx="2560320" cy="1051560"/>
          </a:xfrm>
          <a:prstGeom prst="rect">
            <a:avLst/>
          </a:prstGeom>
          <a:solidFill>
            <a:srgbClr val="F3F4F6"/>
          </a:solidFill>
          <a:ln w="9525">
            <a:solidFill>
              <a:srgbClr val="D1D5DB"/>
            </a:solidFill>
            <a:prstDash val="solid"/>
          </a:ln>
        </p:spPr>
      </p:sp>
      <p:sp>
        <p:nvSpPr>
          <p:cNvPr id="18" name="Shape 15"/>
          <p:cNvSpPr/>
          <p:nvPr/>
        </p:nvSpPr>
        <p:spPr>
          <a:xfrm>
            <a:off x="9235440" y="5303520"/>
            <a:ext cx="82296" cy="1051560"/>
          </a:xfrm>
          <a:prstGeom prst="rect">
            <a:avLst/>
          </a:prstGeom>
          <a:solidFill>
            <a:srgbClr val="374151"/>
          </a:solidFill>
          <a:ln w="12700">
            <a:solidFill>
              <a:srgbClr val="374151"/>
            </a:solidFill>
            <a:prstDash val="solid"/>
          </a:ln>
        </p:spPr>
      </p:sp>
      <p:sp>
        <p:nvSpPr>
          <p:cNvPr id="19" name="Text 16"/>
          <p:cNvSpPr txBox="1"/>
          <p:nvPr/>
        </p:nvSpPr>
        <p:spPr>
          <a:xfrm>
            <a:off x="9464040" y="5394960"/>
            <a:ext cx="2194560" cy="365760"/>
          </a:xfrm>
          <a:prstGeom prst="rect">
            <a:avLst/>
          </a:prstGeom>
          <a:noFill/>
          <a:ln/>
        </p:spPr>
        <p:txBody>
          <a:bodyPr wrap="square" lIns="0" tIns="0" rIns="0" bIns="0" rtlCol="0" anchor="ctr"/>
          <a:lstStyle/>
          <a:p>
            <a:pPr marL="0" indent="0">
              <a:buNone/>
            </a:pPr>
            <a:r>
              <a:rPr lang="en-US" sz="1500" b="1" dirty="0">
                <a:solidFill>
                  <a:srgbClr val="374151"/>
                </a:solidFill>
                <a:latin typeface="Arial" pitchFamily="34" charset="0"/>
                <a:ea typeface="Arial" pitchFamily="34" charset="-122"/>
                <a:cs typeface="Arial" pitchFamily="34" charset="-120"/>
              </a:rPr>
              <a:t>Delivery</a:t>
            </a:r>
            <a:endParaRPr lang="en-US" sz="1500" dirty="0"/>
          </a:p>
        </p:txBody>
      </p:sp>
      <p:sp>
        <p:nvSpPr>
          <p:cNvPr id="20" name="Text 17"/>
          <p:cNvSpPr txBox="1"/>
          <p:nvPr/>
        </p:nvSpPr>
        <p:spPr>
          <a:xfrm>
            <a:off x="9464040" y="5779008"/>
            <a:ext cx="2194560" cy="50292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GitHub Actions → EC2 / S3.</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How a request travels, and why each component is needed</a:t>
            </a:r>
            <a:endParaRPr lang="en-US" sz="2800" dirty="0"/>
          </a:p>
        </p:txBody>
      </p:sp>
      <p:sp>
        <p:nvSpPr>
          <p:cNvPr id="3" name="Shape 1"/>
          <p:cNvSpPr/>
          <p:nvPr/>
        </p:nvSpPr>
        <p:spPr>
          <a:xfrm>
            <a:off x="457200" y="914400"/>
            <a:ext cx="1097280" cy="64008"/>
          </a:xfrm>
          <a:prstGeom prst="rect">
            <a:avLst/>
          </a:prstGeom>
          <a:solidFill>
            <a:srgbClr val="EA580C"/>
          </a:solidFill>
          <a:ln w="12700">
            <a:solidFill>
              <a:srgbClr val="EA580C"/>
            </a:solidFill>
            <a:prstDash val="solid"/>
          </a:ln>
        </p:spPr>
      </p:sp>
      <p:sp>
        <p:nvSpPr>
          <p:cNvPr id="4" name="Shape 2"/>
          <p:cNvSpPr/>
          <p:nvPr/>
        </p:nvSpPr>
        <p:spPr>
          <a:xfrm>
            <a:off x="457200" y="1344168"/>
            <a:ext cx="502920" cy="502920"/>
          </a:xfrm>
          <a:prstGeom prst="ellipse">
            <a:avLst/>
          </a:prstGeom>
          <a:solidFill>
            <a:srgbClr val="DC2626"/>
          </a:solidFill>
          <a:ln w="12700">
            <a:solidFill>
              <a:srgbClr val="DC2626"/>
            </a:solidFill>
            <a:prstDash val="solid"/>
          </a:ln>
        </p:spPr>
      </p:sp>
      <p:sp>
        <p:nvSpPr>
          <p:cNvPr id="5" name="Text 3"/>
          <p:cNvSpPr txBox="1"/>
          <p:nvPr/>
        </p:nvSpPr>
        <p:spPr>
          <a:xfrm>
            <a:off x="457200" y="134416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143000" y="1234440"/>
            <a:ext cx="4754880" cy="777240"/>
          </a:xfrm>
          <a:prstGeom prst="rect">
            <a:avLst/>
          </a:prstGeom>
          <a:noFill/>
          <a:ln/>
        </p:spPr>
        <p:txBody>
          <a:bodyPr wrap="square" lIns="0" tIns="0" rIns="0" bIns="0" rtlCol="0" anchor="ctr"/>
          <a:lstStyle/>
          <a:p>
            <a:pPr marL="0" indent="0">
              <a:buNone/>
            </a:pPr>
            <a:r>
              <a:rPr lang="en-US" sz="1500" b="1" dirty="0">
                <a:solidFill>
                  <a:srgbClr val="1F2A44"/>
                </a:solidFill>
                <a:latin typeface="Arial" pitchFamily="34" charset="0"/>
                <a:ea typeface="Arial" pitchFamily="34" charset="-122"/>
                <a:cs typeface="Arial" pitchFamily="34" charset="-120"/>
              </a:rPr>
              <a:t>Browser → CloudFront</a:t>
            </a:r>
            <a:endParaRPr lang="en-US" sz="1500" dirty="0"/>
          </a:p>
          <a:p>
            <a:pPr marL="0" indent="0">
              <a:buNone/>
            </a:pPr>
            <a:r>
              <a:rPr lang="en-US" sz="1250" dirty="0">
                <a:solidFill>
                  <a:srgbClr val="1F2937"/>
                </a:solidFill>
                <a:latin typeface="Arial" pitchFamily="34" charset="0"/>
                <a:ea typeface="Arial" pitchFamily="34" charset="-122"/>
                <a:cs typeface="Arial" pitchFamily="34" charset="-120"/>
              </a:rPr>
              <a:t>HTTPS; HTTP is redirected. Cached content returns here.</a:t>
            </a:r>
            <a:endParaRPr lang="en-US" sz="1500" dirty="0"/>
          </a:p>
        </p:txBody>
      </p:sp>
      <p:sp>
        <p:nvSpPr>
          <p:cNvPr id="7" name="Shape 5"/>
          <p:cNvSpPr/>
          <p:nvPr/>
        </p:nvSpPr>
        <p:spPr>
          <a:xfrm>
            <a:off x="457200" y="2350008"/>
            <a:ext cx="502920" cy="502920"/>
          </a:xfrm>
          <a:prstGeom prst="ellipse">
            <a:avLst/>
          </a:prstGeom>
          <a:solidFill>
            <a:srgbClr val="DC2626"/>
          </a:solidFill>
          <a:ln w="12700">
            <a:solidFill>
              <a:srgbClr val="DC2626"/>
            </a:solidFill>
            <a:prstDash val="solid"/>
          </a:ln>
        </p:spPr>
      </p:sp>
      <p:sp>
        <p:nvSpPr>
          <p:cNvPr id="8" name="Text 6"/>
          <p:cNvSpPr txBox="1"/>
          <p:nvPr/>
        </p:nvSpPr>
        <p:spPr>
          <a:xfrm>
            <a:off x="457200" y="235000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143000" y="2240280"/>
            <a:ext cx="4754880" cy="777240"/>
          </a:xfrm>
          <a:prstGeom prst="rect">
            <a:avLst/>
          </a:prstGeom>
          <a:noFill/>
          <a:ln/>
        </p:spPr>
        <p:txBody>
          <a:bodyPr wrap="square" lIns="0" tIns="0" rIns="0" bIns="0" rtlCol="0" anchor="ctr"/>
          <a:lstStyle/>
          <a:p>
            <a:pPr marL="0" indent="0">
              <a:buNone/>
            </a:pPr>
            <a:r>
              <a:rPr lang="en-US" sz="1500" b="1" dirty="0">
                <a:solidFill>
                  <a:srgbClr val="1F2A44"/>
                </a:solidFill>
                <a:latin typeface="Arial" pitchFamily="34" charset="0"/>
                <a:ea typeface="Arial" pitchFamily="34" charset="-122"/>
                <a:cs typeface="Arial" pitchFamily="34" charset="-120"/>
              </a:rPr>
              <a:t>CloudFront → ALB</a:t>
            </a:r>
            <a:endParaRPr lang="en-US" sz="1500" dirty="0"/>
          </a:p>
          <a:p>
            <a:pPr marL="0" indent="0">
              <a:buNone/>
            </a:pPr>
            <a:r>
              <a:rPr lang="en-US" sz="1250" dirty="0">
                <a:solidFill>
                  <a:srgbClr val="1F2937"/>
                </a:solidFill>
                <a:latin typeface="Arial" pitchFamily="34" charset="0"/>
                <a:ea typeface="Arial" pitchFamily="34" charset="-122"/>
                <a:cs typeface="Arial" pitchFamily="34" charset="-120"/>
              </a:rPr>
              <a:t>Uncached/dynamic requests, HTTPS only to the origin.</a:t>
            </a:r>
            <a:endParaRPr lang="en-US" sz="1500" dirty="0"/>
          </a:p>
        </p:txBody>
      </p:sp>
      <p:sp>
        <p:nvSpPr>
          <p:cNvPr id="10" name="Shape 8"/>
          <p:cNvSpPr/>
          <p:nvPr/>
        </p:nvSpPr>
        <p:spPr>
          <a:xfrm>
            <a:off x="457200" y="3355848"/>
            <a:ext cx="502920" cy="502920"/>
          </a:xfrm>
          <a:prstGeom prst="ellipse">
            <a:avLst/>
          </a:prstGeom>
          <a:solidFill>
            <a:srgbClr val="DC2626"/>
          </a:solidFill>
          <a:ln w="12700">
            <a:solidFill>
              <a:srgbClr val="DC2626"/>
            </a:solidFill>
            <a:prstDash val="solid"/>
          </a:ln>
        </p:spPr>
      </p:sp>
      <p:sp>
        <p:nvSpPr>
          <p:cNvPr id="11" name="Text 9"/>
          <p:cNvSpPr txBox="1"/>
          <p:nvPr/>
        </p:nvSpPr>
        <p:spPr>
          <a:xfrm>
            <a:off x="457200" y="335584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txBox="1"/>
          <p:nvPr/>
        </p:nvSpPr>
        <p:spPr>
          <a:xfrm>
            <a:off x="1143000" y="3246120"/>
            <a:ext cx="4754880" cy="777240"/>
          </a:xfrm>
          <a:prstGeom prst="rect">
            <a:avLst/>
          </a:prstGeom>
          <a:noFill/>
          <a:ln/>
        </p:spPr>
        <p:txBody>
          <a:bodyPr wrap="square" lIns="0" tIns="0" rIns="0" bIns="0" rtlCol="0" anchor="ctr"/>
          <a:lstStyle/>
          <a:p>
            <a:pPr marL="0" indent="0">
              <a:buNone/>
            </a:pPr>
            <a:r>
              <a:rPr lang="en-US" sz="1500" b="1" dirty="0">
                <a:solidFill>
                  <a:srgbClr val="1F2A44"/>
                </a:solidFill>
                <a:latin typeface="Arial" pitchFamily="34" charset="0"/>
                <a:ea typeface="Arial" pitchFamily="34" charset="-122"/>
                <a:cs typeface="Arial" pitchFamily="34" charset="-120"/>
              </a:rPr>
              <a:t>CloudFront → S3</a:t>
            </a:r>
            <a:endParaRPr lang="en-US" sz="1500" dirty="0"/>
          </a:p>
          <a:p>
            <a:pPr marL="0" indent="0">
              <a:buNone/>
            </a:pPr>
            <a:r>
              <a:rPr lang="en-US" sz="1250" dirty="0">
                <a:solidFill>
                  <a:srgbClr val="1F2937"/>
                </a:solidFill>
                <a:latin typeface="Arial" pitchFamily="34" charset="0"/>
                <a:ea typeface="Arial" pitchFamily="34" charset="-122"/>
                <a:cs typeface="Arial" pitchFamily="34" charset="-120"/>
              </a:rPr>
              <a:t>/static/* from a private bucket via OAC (parallel branch).</a:t>
            </a:r>
            <a:endParaRPr lang="en-US" sz="1500" dirty="0"/>
          </a:p>
        </p:txBody>
      </p:sp>
      <p:sp>
        <p:nvSpPr>
          <p:cNvPr id="13" name="Shape 11"/>
          <p:cNvSpPr/>
          <p:nvPr/>
        </p:nvSpPr>
        <p:spPr>
          <a:xfrm>
            <a:off x="457200" y="4361688"/>
            <a:ext cx="502920" cy="502920"/>
          </a:xfrm>
          <a:prstGeom prst="ellipse">
            <a:avLst/>
          </a:prstGeom>
          <a:solidFill>
            <a:srgbClr val="DC2626"/>
          </a:solidFill>
          <a:ln w="12700">
            <a:solidFill>
              <a:srgbClr val="DC2626"/>
            </a:solidFill>
            <a:prstDash val="solid"/>
          </a:ln>
        </p:spPr>
      </p:sp>
      <p:sp>
        <p:nvSpPr>
          <p:cNvPr id="14" name="Text 12"/>
          <p:cNvSpPr txBox="1"/>
          <p:nvPr/>
        </p:nvSpPr>
        <p:spPr>
          <a:xfrm>
            <a:off x="457200" y="436168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txBox="1"/>
          <p:nvPr/>
        </p:nvSpPr>
        <p:spPr>
          <a:xfrm>
            <a:off x="1143000" y="4251960"/>
            <a:ext cx="4754880" cy="777240"/>
          </a:xfrm>
          <a:prstGeom prst="rect">
            <a:avLst/>
          </a:prstGeom>
          <a:noFill/>
          <a:ln/>
        </p:spPr>
        <p:txBody>
          <a:bodyPr wrap="square" lIns="0" tIns="0" rIns="0" bIns="0" rtlCol="0" anchor="ctr"/>
          <a:lstStyle/>
          <a:p>
            <a:pPr marL="0" indent="0">
              <a:buNone/>
            </a:pPr>
            <a:r>
              <a:rPr lang="en-US" sz="1500" b="1" dirty="0">
                <a:solidFill>
                  <a:srgbClr val="1F2A44"/>
                </a:solidFill>
                <a:latin typeface="Arial" pitchFamily="34" charset="0"/>
                <a:ea typeface="Arial" pitchFamily="34" charset="-122"/>
                <a:cs typeface="Arial" pitchFamily="34" charset="-120"/>
              </a:rPr>
              <a:t>ALB → EC2</a:t>
            </a:r>
            <a:endParaRPr lang="en-US" sz="1500" dirty="0"/>
          </a:p>
          <a:p>
            <a:pPr marL="0" indent="0">
              <a:buNone/>
            </a:pPr>
            <a:r>
              <a:rPr lang="en-US" sz="1250" dirty="0">
                <a:solidFill>
                  <a:srgbClr val="1F2937"/>
                </a:solidFill>
                <a:latin typeface="Arial" pitchFamily="34" charset="0"/>
                <a:ea typeface="Arial" pitchFamily="34" charset="-122"/>
                <a:cs typeface="Arial" pitchFamily="34" charset="-120"/>
              </a:rPr>
              <a:t>Healthy instance in either AZ; port 80 inside the VPC.</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309360" y="1280160"/>
          <a:ext cx="5394960" cy="2743200"/>
        </p:xfrm>
        <a:graphic>
          <a:graphicData uri="http://schemas.openxmlformats.org/drawingml/2006/table">
            <a:tbl>
              <a:tblPr/>
              <a:tblGrid>
                <a:gridCol w="13716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685800">
                <a:tc>
                  <a:txBody>
                    <a:bodyPr/>
                    <a:lstStyle/>
                    <a:p>
                      <a:pPr marL="0" indent="0">
                        <a:buNone/>
                      </a:pPr>
                      <a:r>
                        <a:rPr lang="en-US" sz="1250" b="1" dirty="0">
                          <a:solidFill>
                            <a:srgbClr val="FFFFFF"/>
                          </a:solidFill>
                          <a:latin typeface="Arial" pitchFamily="34" charset="0"/>
                          <a:ea typeface="Arial" pitchFamily="34" charset="-122"/>
                          <a:cs typeface="Arial" pitchFamily="34" charset="-120"/>
                        </a:rPr>
                        <a:t>Component</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Role</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If omitted</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5800">
                <a:tc>
                  <a:txBody>
                    <a:bodyPr/>
                    <a:lstStyle/>
                    <a:p>
                      <a:pPr marL="0" indent="0">
                        <a:buNone/>
                      </a:pPr>
                      <a:r>
                        <a:rPr lang="en-US" sz="1200" b="1" dirty="0">
                          <a:solidFill>
                            <a:srgbClr val="1F2937"/>
                          </a:solidFill>
                          <a:latin typeface="Arial" pitchFamily="34" charset="0"/>
                          <a:ea typeface="Arial" pitchFamily="34" charset="-122"/>
                          <a:cs typeface="Arial" pitchFamily="34" charset="-120"/>
                        </a:rPr>
                        <a:t>CloudFront</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Edge cache, secure single entry, TLS</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Slower, origin exposed</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200" b="1" dirty="0">
                          <a:solidFill>
                            <a:srgbClr val="1F2937"/>
                          </a:solidFill>
                          <a:latin typeface="Arial" pitchFamily="34" charset="0"/>
                          <a:ea typeface="Arial" pitchFamily="34" charset="-122"/>
                          <a:cs typeface="Arial" pitchFamily="34" charset="-120"/>
                        </a:rPr>
                        <a:t>ALB</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Balances, health checks, TLS, scaling hook</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Single point of failure</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200" b="1" dirty="0">
                          <a:solidFill>
                            <a:srgbClr val="1F2937"/>
                          </a:solidFill>
                          <a:latin typeface="Arial" pitchFamily="34" charset="0"/>
                          <a:ea typeface="Arial" pitchFamily="34" charset="-122"/>
                          <a:cs typeface="Arial" pitchFamily="34" charset="-120"/>
                        </a:rPr>
                        <a:t>EC2 + ASG</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Runs nginx app; scales and self-heals</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Nowhere to run the app</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Text 14"/>
          <p:cNvSpPr txBox="1"/>
          <p:nvPr/>
        </p:nvSpPr>
        <p:spPr>
          <a:xfrm>
            <a:off x="6309360" y="4297680"/>
            <a:ext cx="5394960" cy="822960"/>
          </a:xfrm>
          <a:prstGeom prst="rect">
            <a:avLst/>
          </a:prstGeom>
          <a:noFill/>
          <a:ln/>
        </p:spPr>
        <p:txBody>
          <a:bodyPr wrap="square" lIns="0" tIns="0" rIns="0" bIns="0" rtlCol="0" anchor="t"/>
          <a:lstStyle/>
          <a:p>
            <a:pPr marL="0" indent="0">
              <a:buNone/>
            </a:pPr>
            <a:r>
              <a:rPr lang="en-US" sz="1250" i="1" dirty="0">
                <a:solidFill>
                  <a:srgbClr val="6B7280"/>
                </a:solidFill>
                <a:latin typeface="Arial" pitchFamily="34" charset="0"/>
                <a:ea typeface="Arial" pitchFamily="34" charset="-122"/>
                <a:cs typeface="Arial" pitchFamily="34" charset="-120"/>
              </a:rPr>
              <a:t>Considered and rejected: single EC2 (no resilience), ALB only (no CDN, exposed), CloudFront→EC2 direct (no load balancing).</a:t>
            </a:r>
            <a:endParaRPr lang="en-US" sz="1250" dirty="0"/>
          </a:p>
        </p:txBody>
      </p:sp>
      <p:sp>
        <p:nvSpPr>
          <p:cNvPr id="18" name="Text 15"/>
          <p:cNvSpPr txBox="1"/>
          <p:nvPr/>
        </p:nvSpPr>
        <p:spPr>
          <a:xfrm>
            <a:off x="457200" y="5486400"/>
            <a:ext cx="11247120" cy="457200"/>
          </a:xfrm>
          <a:prstGeom prst="rect">
            <a:avLst/>
          </a:prstGeom>
          <a:noFill/>
          <a:ln/>
        </p:spPr>
        <p:txBody>
          <a:bodyPr wrap="square" lIns="0" tIns="0" rIns="0" bIns="0" rtlCol="0" anchor="ctr"/>
          <a:lstStyle/>
          <a:p>
            <a:pPr marL="0" indent="0">
              <a:buNone/>
            </a:pPr>
            <a:r>
              <a:rPr lang="en-US" sz="1500" b="1" dirty="0">
                <a:solidFill>
                  <a:srgbClr val="15803D"/>
                </a:solidFill>
                <a:latin typeface="Arial" pitchFamily="34" charset="0"/>
                <a:ea typeface="Arial" pitchFamily="34" charset="-122"/>
                <a:cs typeface="Arial" pitchFamily="34" charset="-120"/>
              </a:rPr>
              <a:t>Result: faster delivery, balanced load, resilience if an instance or zone fails.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Security: HTTPS on every leg and layered access control</a:t>
            </a:r>
            <a:endParaRPr lang="en-US" sz="2800" dirty="0"/>
          </a:p>
        </p:txBody>
      </p:sp>
      <p:sp>
        <p:nvSpPr>
          <p:cNvPr id="3" name="Shape 1"/>
          <p:cNvSpPr/>
          <p:nvPr/>
        </p:nvSpPr>
        <p:spPr>
          <a:xfrm>
            <a:off x="457200" y="914400"/>
            <a:ext cx="1097280" cy="64008"/>
          </a:xfrm>
          <a:prstGeom prst="rect">
            <a:avLst/>
          </a:prstGeom>
          <a:solidFill>
            <a:srgbClr val="EA580C"/>
          </a:solidFill>
          <a:ln w="12700">
            <a:solidFill>
              <a:srgbClr val="EA580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760720" cy="2743200"/>
        </p:xfrm>
        <a:graphic>
          <a:graphicData uri="http://schemas.openxmlformats.org/drawingml/2006/table">
            <a:tbl>
              <a:tblPr/>
              <a:tblGrid>
                <a:gridCol w="18288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48640">
                <a:tc>
                  <a:txBody>
                    <a:bodyPr/>
                    <a:lstStyle/>
                    <a:p>
                      <a:pPr marL="0" indent="0">
                        <a:buNone/>
                      </a:pPr>
                      <a:r>
                        <a:rPr lang="en-US" sz="1250" b="1" dirty="0">
                          <a:solidFill>
                            <a:srgbClr val="FFFFFF"/>
                          </a:solidFill>
                          <a:latin typeface="Arial" pitchFamily="34" charset="0"/>
                          <a:ea typeface="Arial" pitchFamily="34" charset="-122"/>
                          <a:cs typeface="Arial" pitchFamily="34" charset="-120"/>
                        </a:rPr>
                        <a:t>Leg</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Protection</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1F2937"/>
                          </a:solidFill>
                          <a:latin typeface="Arial" pitchFamily="34" charset="0"/>
                          <a:ea typeface="Arial" pitchFamily="34" charset="-122"/>
                          <a:cs typeface="Arial" pitchFamily="34" charset="-120"/>
                        </a:rPr>
                        <a:t>Browser → CloudFront</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HTTPS, TLS 1.2+, ACM cert (us-east-1), HTTP redirected</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1F2937"/>
                          </a:solidFill>
                          <a:latin typeface="Arial" pitchFamily="34" charset="0"/>
                          <a:ea typeface="Arial" pitchFamily="34" charset="-122"/>
                          <a:cs typeface="Arial" pitchFamily="34" charset="-120"/>
                        </a:rPr>
                        <a:t>CloudFront → ALB</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HTTPS only; origin name matches regional ACM cert</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1F2937"/>
                          </a:solidFill>
                          <a:latin typeface="Arial" pitchFamily="34" charset="0"/>
                          <a:ea typeface="Arial" pitchFamily="34" charset="-122"/>
                          <a:cs typeface="Arial" pitchFamily="34" charset="-120"/>
                        </a:rPr>
                        <a:t>CloudFront → S3</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OAC-signed; bucket policy trusts one distribution</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1F2937"/>
                          </a:solidFill>
                          <a:latin typeface="Arial" pitchFamily="34" charset="0"/>
                          <a:ea typeface="Arial" pitchFamily="34" charset="-122"/>
                          <a:cs typeface="Arial" pitchFamily="34" charset="-120"/>
                        </a:rPr>
                        <a:t>ALB → EC2</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HTTP inside VPC; EC2 accepts only the ALB (accepted risk)</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492240" y="1325880"/>
          <a:ext cx="5212080" cy="2194560"/>
        </p:xfrm>
        <a:graphic>
          <a:graphicData uri="http://schemas.openxmlformats.org/drawingml/2006/table">
            <a:tbl>
              <a:tblPr/>
              <a:tblGrid>
                <a:gridCol w="12801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548640">
                <a:tc>
                  <a:txBody>
                    <a:bodyPr/>
                    <a:lstStyle/>
                    <a:p>
                      <a:pPr marL="0" indent="0">
                        <a:buNone/>
                      </a:pPr>
                      <a:r>
                        <a:rPr lang="en-US" sz="1250" b="1" dirty="0">
                          <a:solidFill>
                            <a:srgbClr val="FFFFFF"/>
                          </a:solidFill>
                          <a:latin typeface="Arial" pitchFamily="34" charset="0"/>
                          <a:ea typeface="Arial" pitchFamily="34" charset="-122"/>
                          <a:cs typeface="Arial" pitchFamily="34" charset="-120"/>
                        </a:rPr>
                        <a:t>Security group</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Port</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Allowed source</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1F2937"/>
                          </a:solidFill>
                          <a:latin typeface="Arial" pitchFamily="34" charset="0"/>
                          <a:ea typeface="Arial" pitchFamily="34" charset="-122"/>
                          <a:cs typeface="Arial" pitchFamily="34" charset="-120"/>
                        </a:rPr>
                        <a:t>sg-alb</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443 / 80</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CloudFront managed prefix list only</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1F2937"/>
                          </a:solidFill>
                          <a:latin typeface="Arial" pitchFamily="34" charset="0"/>
                          <a:ea typeface="Arial" pitchFamily="34" charset="-122"/>
                          <a:cs typeface="Arial" pitchFamily="34" charset="-120"/>
                        </a:rPr>
                        <a:t>sg-ec2</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80</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sg-alb only</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1F2937"/>
                          </a:solidFill>
                          <a:latin typeface="Arial" pitchFamily="34" charset="0"/>
                          <a:ea typeface="Arial" pitchFamily="34" charset="-122"/>
                          <a:cs typeface="Arial" pitchFamily="34" charset="-120"/>
                        </a:rPr>
                        <a:t>sg-ec2</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Admin IP only, or none (use SSM)</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Shape 2"/>
          <p:cNvSpPr/>
          <p:nvPr/>
        </p:nvSpPr>
        <p:spPr>
          <a:xfrm>
            <a:off x="6492240" y="4343400"/>
            <a:ext cx="5212080" cy="1188720"/>
          </a:xfrm>
          <a:prstGeom prst="rect">
            <a:avLst/>
          </a:prstGeom>
          <a:solidFill>
            <a:srgbClr val="F3F4F6"/>
          </a:solidFill>
          <a:ln w="9525">
            <a:solidFill>
              <a:srgbClr val="D1D5DB"/>
            </a:solidFill>
            <a:prstDash val="solid"/>
          </a:ln>
        </p:spPr>
      </p:sp>
      <p:sp>
        <p:nvSpPr>
          <p:cNvPr id="7" name="Shape 3"/>
          <p:cNvSpPr/>
          <p:nvPr/>
        </p:nvSpPr>
        <p:spPr>
          <a:xfrm>
            <a:off x="6492240" y="4343400"/>
            <a:ext cx="82296" cy="1188720"/>
          </a:xfrm>
          <a:prstGeom prst="rect">
            <a:avLst/>
          </a:prstGeom>
          <a:solidFill>
            <a:srgbClr val="15803D"/>
          </a:solidFill>
          <a:ln w="12700">
            <a:solidFill>
              <a:srgbClr val="15803D"/>
            </a:solidFill>
            <a:prstDash val="solid"/>
          </a:ln>
        </p:spPr>
      </p:sp>
      <p:sp>
        <p:nvSpPr>
          <p:cNvPr id="8" name="Text 4"/>
          <p:cNvSpPr txBox="1"/>
          <p:nvPr/>
        </p:nvSpPr>
        <p:spPr>
          <a:xfrm>
            <a:off x="6720840" y="4434840"/>
            <a:ext cx="4846320" cy="365760"/>
          </a:xfrm>
          <a:prstGeom prst="rect">
            <a:avLst/>
          </a:prstGeom>
          <a:noFill/>
          <a:ln/>
        </p:spPr>
        <p:txBody>
          <a:bodyPr wrap="square" lIns="0" tIns="0" rIns="0" bIns="0" rtlCol="0" anchor="ctr"/>
          <a:lstStyle/>
          <a:p>
            <a:pPr marL="0" indent="0">
              <a:buNone/>
            </a:pPr>
            <a:r>
              <a:rPr lang="en-US" sz="1500" b="1" dirty="0">
                <a:solidFill>
                  <a:srgbClr val="15803D"/>
                </a:solidFill>
                <a:latin typeface="Arial" pitchFamily="34" charset="0"/>
                <a:ea typeface="Arial" pitchFamily="34" charset="-122"/>
                <a:cs typeface="Arial" pitchFamily="34" charset="-120"/>
              </a:rPr>
              <a:t>Identity and data</a:t>
            </a:r>
            <a:endParaRPr lang="en-US" sz="1500" dirty="0"/>
          </a:p>
        </p:txBody>
      </p:sp>
      <p:sp>
        <p:nvSpPr>
          <p:cNvPr id="9" name="Text 5"/>
          <p:cNvSpPr txBox="1"/>
          <p:nvPr/>
        </p:nvSpPr>
        <p:spPr>
          <a:xfrm>
            <a:off x="6720840" y="4818888"/>
            <a:ext cx="4846320" cy="64008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MFA on root, IAM least privilege, EC2 instance role (no keys on servers), S3 Block Public Access, encryption at rest.</a:t>
            </a:r>
            <a:endParaRPr lang="en-US" sz="1250" dirty="0"/>
          </a:p>
        </p:txBody>
      </p:sp>
      <p:sp>
        <p:nvSpPr>
          <p:cNvPr id="10" name="Shape 6"/>
          <p:cNvSpPr/>
          <p:nvPr/>
        </p:nvSpPr>
        <p:spPr>
          <a:xfrm>
            <a:off x="457200" y="4343400"/>
            <a:ext cx="5760720" cy="1188720"/>
          </a:xfrm>
          <a:prstGeom prst="rect">
            <a:avLst/>
          </a:prstGeom>
          <a:solidFill>
            <a:srgbClr val="F3F4F6"/>
          </a:solidFill>
          <a:ln w="9525">
            <a:solidFill>
              <a:srgbClr val="D1D5DB"/>
            </a:solidFill>
            <a:prstDash val="solid"/>
          </a:ln>
        </p:spPr>
      </p:sp>
      <p:sp>
        <p:nvSpPr>
          <p:cNvPr id="5" name="Shape 7"/>
          <p:cNvSpPr/>
          <p:nvPr/>
        </p:nvSpPr>
        <p:spPr>
          <a:xfrm>
            <a:off x="457200" y="4343400"/>
            <a:ext cx="82296" cy="1188720"/>
          </a:xfrm>
          <a:prstGeom prst="rect">
            <a:avLst/>
          </a:prstGeom>
          <a:solidFill>
            <a:srgbClr val="B45309"/>
          </a:solidFill>
          <a:ln w="12700">
            <a:solidFill>
              <a:srgbClr val="B45309"/>
            </a:solidFill>
            <a:prstDash val="solid"/>
          </a:ln>
        </p:spPr>
      </p:sp>
      <p:sp>
        <p:nvSpPr>
          <p:cNvPr id="12" name="Text 8"/>
          <p:cNvSpPr txBox="1"/>
          <p:nvPr/>
        </p:nvSpPr>
        <p:spPr>
          <a:xfrm>
            <a:off x="685800" y="4434840"/>
            <a:ext cx="5394960" cy="365760"/>
          </a:xfrm>
          <a:prstGeom prst="rect">
            <a:avLst/>
          </a:prstGeom>
          <a:noFill/>
          <a:ln/>
        </p:spPr>
        <p:txBody>
          <a:bodyPr wrap="square" lIns="0" tIns="0" rIns="0" bIns="0" rtlCol="0" anchor="ctr"/>
          <a:lstStyle/>
          <a:p>
            <a:pPr marL="0" indent="0">
              <a:buNone/>
            </a:pPr>
            <a:r>
              <a:rPr lang="en-US" sz="1500" b="1" dirty="0">
                <a:solidFill>
                  <a:srgbClr val="B45309"/>
                </a:solidFill>
                <a:latin typeface="Arial" pitchFamily="34" charset="0"/>
                <a:ea typeface="Arial" pitchFamily="34" charset="-122"/>
                <a:cs typeface="Arial" pitchFamily="34" charset="-120"/>
              </a:rPr>
              <a:t>Defense in depth</a:t>
            </a:r>
            <a:endParaRPr lang="en-US" sz="1500" dirty="0"/>
          </a:p>
        </p:txBody>
      </p:sp>
      <p:sp>
        <p:nvSpPr>
          <p:cNvPr id="13" name="Text 9"/>
          <p:cNvSpPr txBox="1"/>
          <p:nvPr/>
        </p:nvSpPr>
        <p:spPr>
          <a:xfrm>
            <a:off x="685800" y="4818888"/>
            <a:ext cx="5394960" cy="64008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Prefix list admits any CloudFront distribution, so add a secret origin header checked by the ALB. WAF is a documented future step.</a:t>
            </a:r>
            <a:endParaRPr lang="en-US" sz="1250" dirty="0"/>
          </a:p>
        </p:txBody>
      </p:sp>
      <p:sp>
        <p:nvSpPr>
          <p:cNvPr id="14" name="Text 10"/>
          <p:cNvSpPr txBox="1"/>
          <p:nvPr/>
        </p:nvSpPr>
        <p:spPr>
          <a:xfrm>
            <a:off x="457200" y="5760720"/>
            <a:ext cx="11247120" cy="457200"/>
          </a:xfrm>
          <a:prstGeom prst="rect">
            <a:avLst/>
          </a:prstGeom>
          <a:noFill/>
          <a:ln/>
        </p:spPr>
        <p:txBody>
          <a:bodyPr wrap="square" lIns="0" tIns="0" rIns="0" bIns="0" rtlCol="0" anchor="ctr"/>
          <a:lstStyle/>
          <a:p>
            <a:pPr marL="0" indent="0">
              <a:buNone/>
            </a:pPr>
            <a:r>
              <a:rPr lang="en-US" sz="1300" i="1" dirty="0">
                <a:solidFill>
                  <a:srgbClr val="6B7280"/>
                </a:solidFill>
                <a:latin typeface="Arial" pitchFamily="34" charset="0"/>
                <a:ea typeface="Arial" pitchFamily="34" charset="-122"/>
                <a:cs typeface="Arial" pitchFamily="34" charset="-120"/>
              </a:rPr>
              <a:t>Verify: curl redirect test, direct ALB and S3 access blocked, SG rules reviewed, padlock and certificate checked.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Deploy, monitor and control cost</a:t>
            </a:r>
            <a:endParaRPr lang="en-US" sz="2800" dirty="0"/>
          </a:p>
        </p:txBody>
      </p:sp>
      <p:sp>
        <p:nvSpPr>
          <p:cNvPr id="3" name="Shape 1"/>
          <p:cNvSpPr/>
          <p:nvPr/>
        </p:nvSpPr>
        <p:spPr>
          <a:xfrm>
            <a:off x="457200" y="914400"/>
            <a:ext cx="1097280" cy="64008"/>
          </a:xfrm>
          <a:prstGeom prst="rect">
            <a:avLst/>
          </a:prstGeom>
          <a:solidFill>
            <a:srgbClr val="EA580C"/>
          </a:solidFill>
          <a:ln w="12700">
            <a:solidFill>
              <a:srgbClr val="EA580C"/>
            </a:solidFill>
            <a:prstDash val="solid"/>
          </a:ln>
        </p:spPr>
      </p:sp>
      <p:sp>
        <p:nvSpPr>
          <p:cNvPr id="4" name="Shape 2"/>
          <p:cNvSpPr/>
          <p:nvPr/>
        </p:nvSpPr>
        <p:spPr>
          <a:xfrm>
            <a:off x="457200" y="1371600"/>
            <a:ext cx="3657600" cy="3200400"/>
          </a:xfrm>
          <a:prstGeom prst="rect">
            <a:avLst/>
          </a:prstGeom>
          <a:solidFill>
            <a:srgbClr val="F3F4F6"/>
          </a:solidFill>
          <a:ln w="9525">
            <a:solidFill>
              <a:srgbClr val="D1D5DB"/>
            </a:solidFill>
            <a:prstDash val="solid"/>
          </a:ln>
        </p:spPr>
      </p:sp>
      <p:sp>
        <p:nvSpPr>
          <p:cNvPr id="5" name="Shape 3"/>
          <p:cNvSpPr/>
          <p:nvPr/>
        </p:nvSpPr>
        <p:spPr>
          <a:xfrm>
            <a:off x="457200" y="1371600"/>
            <a:ext cx="82296" cy="3200400"/>
          </a:xfrm>
          <a:prstGeom prst="rect">
            <a:avLst/>
          </a:prstGeom>
          <a:solidFill>
            <a:srgbClr val="2563EB"/>
          </a:solidFill>
          <a:ln w="12700">
            <a:solidFill>
              <a:srgbClr val="2563EB"/>
            </a:solidFill>
            <a:prstDash val="solid"/>
          </a:ln>
        </p:spPr>
      </p:sp>
      <p:sp>
        <p:nvSpPr>
          <p:cNvPr id="6" name="Text 4"/>
          <p:cNvSpPr txBox="1"/>
          <p:nvPr/>
        </p:nvSpPr>
        <p:spPr>
          <a:xfrm>
            <a:off x="685800" y="1463040"/>
            <a:ext cx="3291840" cy="365760"/>
          </a:xfrm>
          <a:prstGeom prst="rect">
            <a:avLst/>
          </a:prstGeom>
          <a:noFill/>
          <a:ln/>
        </p:spPr>
        <p:txBody>
          <a:bodyPr wrap="square" lIns="0" tIns="0" rIns="0" bIns="0" rtlCol="0" anchor="ctr"/>
          <a:lstStyle/>
          <a:p>
            <a:pPr marL="0" indent="0">
              <a:buNone/>
            </a:pPr>
            <a:r>
              <a:rPr lang="en-US" sz="1500" b="1" dirty="0">
                <a:solidFill>
                  <a:srgbClr val="2563EB"/>
                </a:solidFill>
                <a:latin typeface="Arial" pitchFamily="34" charset="0"/>
                <a:ea typeface="Arial" pitchFamily="34" charset="-122"/>
                <a:cs typeface="Arial" pitchFamily="34" charset="-120"/>
              </a:rPr>
              <a:t>Deploy (GitHub Actions)</a:t>
            </a:r>
            <a:endParaRPr lang="en-US" sz="1500" dirty="0"/>
          </a:p>
        </p:txBody>
      </p:sp>
      <p:sp>
        <p:nvSpPr>
          <p:cNvPr id="7" name="Text 5"/>
          <p:cNvSpPr txBox="1"/>
          <p:nvPr/>
        </p:nvSpPr>
        <p:spPr>
          <a:xfrm>
            <a:off x="685800" y="1847088"/>
            <a:ext cx="3291840" cy="265176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 PRs into protected main</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Push to main triggers workflow</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Deploy via SSM Run Command + OIDC: no open SSH, no stored keys</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Sync /static to S3; verify health endpoint</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Rollback: git revert, push</a:t>
            </a:r>
            <a:endParaRPr lang="en-US" sz="1250" dirty="0"/>
          </a:p>
        </p:txBody>
      </p:sp>
      <p:sp>
        <p:nvSpPr>
          <p:cNvPr id="8" name="Shape 6"/>
          <p:cNvSpPr/>
          <p:nvPr/>
        </p:nvSpPr>
        <p:spPr>
          <a:xfrm>
            <a:off x="4297680" y="1371600"/>
            <a:ext cx="3657600" cy="3200400"/>
          </a:xfrm>
          <a:prstGeom prst="rect">
            <a:avLst/>
          </a:prstGeom>
          <a:solidFill>
            <a:srgbClr val="F3F4F6"/>
          </a:solidFill>
          <a:ln w="9525">
            <a:solidFill>
              <a:srgbClr val="D1D5DB"/>
            </a:solidFill>
            <a:prstDash val="solid"/>
          </a:ln>
        </p:spPr>
      </p:sp>
      <p:sp>
        <p:nvSpPr>
          <p:cNvPr id="9" name="Shape 7"/>
          <p:cNvSpPr/>
          <p:nvPr/>
        </p:nvSpPr>
        <p:spPr>
          <a:xfrm>
            <a:off x="4297680" y="1371600"/>
            <a:ext cx="82296" cy="3200400"/>
          </a:xfrm>
          <a:prstGeom prst="rect">
            <a:avLst/>
          </a:prstGeom>
          <a:solidFill>
            <a:srgbClr val="15803D"/>
          </a:solidFill>
          <a:ln w="12700">
            <a:solidFill>
              <a:srgbClr val="15803D"/>
            </a:solidFill>
            <a:prstDash val="solid"/>
          </a:ln>
        </p:spPr>
      </p:sp>
      <p:sp>
        <p:nvSpPr>
          <p:cNvPr id="10" name="Text 8"/>
          <p:cNvSpPr txBox="1"/>
          <p:nvPr/>
        </p:nvSpPr>
        <p:spPr>
          <a:xfrm>
            <a:off x="4526280" y="1463040"/>
            <a:ext cx="3291840" cy="365760"/>
          </a:xfrm>
          <a:prstGeom prst="rect">
            <a:avLst/>
          </a:prstGeom>
          <a:noFill/>
          <a:ln/>
        </p:spPr>
        <p:txBody>
          <a:bodyPr wrap="square" lIns="0" tIns="0" rIns="0" bIns="0" rtlCol="0" anchor="ctr"/>
          <a:lstStyle/>
          <a:p>
            <a:pPr marL="0" indent="0">
              <a:buNone/>
            </a:pPr>
            <a:r>
              <a:rPr lang="en-US" sz="1500" b="1" dirty="0">
                <a:solidFill>
                  <a:srgbClr val="15803D"/>
                </a:solidFill>
                <a:latin typeface="Arial" pitchFamily="34" charset="0"/>
                <a:ea typeface="Arial" pitchFamily="34" charset="-122"/>
                <a:cs typeface="Arial" pitchFamily="34" charset="-120"/>
              </a:rPr>
              <a:t>Monitor (CloudWatch + SNS)</a:t>
            </a:r>
            <a:endParaRPr lang="en-US" sz="1500" dirty="0"/>
          </a:p>
        </p:txBody>
      </p:sp>
      <p:sp>
        <p:nvSpPr>
          <p:cNvPr id="11" name="Text 9"/>
          <p:cNvSpPr txBox="1"/>
          <p:nvPr/>
        </p:nvSpPr>
        <p:spPr>
          <a:xfrm>
            <a:off x="4526280" y="1847088"/>
            <a:ext cx="3291840" cy="265176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 Alarm: EC2 CPU &gt; 80%</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Alarm: ALB 5xx rate &gt; 5%</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nginx logs to CloudWatch, 7-day retention</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Alarms email the team through SNS (subscription confirmed)</a:t>
            </a:r>
            <a:endParaRPr lang="en-US" sz="1250" dirty="0"/>
          </a:p>
        </p:txBody>
      </p:sp>
      <p:sp>
        <p:nvSpPr>
          <p:cNvPr id="12" name="Shape 10"/>
          <p:cNvSpPr/>
          <p:nvPr/>
        </p:nvSpPr>
        <p:spPr>
          <a:xfrm>
            <a:off x="8138160" y="1371600"/>
            <a:ext cx="3566160" cy="3200400"/>
          </a:xfrm>
          <a:prstGeom prst="rect">
            <a:avLst/>
          </a:prstGeom>
          <a:solidFill>
            <a:srgbClr val="F3F4F6"/>
          </a:solidFill>
          <a:ln w="9525">
            <a:solidFill>
              <a:srgbClr val="D1D5DB"/>
            </a:solidFill>
            <a:prstDash val="solid"/>
          </a:ln>
        </p:spPr>
      </p:sp>
      <p:sp>
        <p:nvSpPr>
          <p:cNvPr id="13" name="Shape 11"/>
          <p:cNvSpPr/>
          <p:nvPr/>
        </p:nvSpPr>
        <p:spPr>
          <a:xfrm>
            <a:off x="8138160" y="1371600"/>
            <a:ext cx="82296" cy="3200400"/>
          </a:xfrm>
          <a:prstGeom prst="rect">
            <a:avLst/>
          </a:prstGeom>
          <a:solidFill>
            <a:srgbClr val="EA580C"/>
          </a:solidFill>
          <a:ln w="12700">
            <a:solidFill>
              <a:srgbClr val="EA580C"/>
            </a:solidFill>
            <a:prstDash val="solid"/>
          </a:ln>
        </p:spPr>
      </p:sp>
      <p:sp>
        <p:nvSpPr>
          <p:cNvPr id="14" name="Text 12"/>
          <p:cNvSpPr txBox="1"/>
          <p:nvPr/>
        </p:nvSpPr>
        <p:spPr>
          <a:xfrm>
            <a:off x="8366760" y="1463040"/>
            <a:ext cx="3200400" cy="365760"/>
          </a:xfrm>
          <a:prstGeom prst="rect">
            <a:avLst/>
          </a:prstGeom>
          <a:noFill/>
          <a:ln/>
        </p:spPr>
        <p:txBody>
          <a:bodyPr wrap="square" lIns="0" tIns="0" rIns="0" bIns="0" rtlCol="0" anchor="ctr"/>
          <a:lstStyle/>
          <a:p>
            <a:pPr marL="0" indent="0">
              <a:buNone/>
            </a:pPr>
            <a:r>
              <a:rPr lang="en-US" sz="1500" b="1" dirty="0">
                <a:solidFill>
                  <a:srgbClr val="EA580C"/>
                </a:solidFill>
                <a:latin typeface="Arial" pitchFamily="34" charset="0"/>
                <a:ea typeface="Arial" pitchFamily="34" charset="-122"/>
                <a:cs typeface="Arial" pitchFamily="34" charset="-120"/>
              </a:rPr>
              <a:t>Cost (AWS Budgets)</a:t>
            </a:r>
            <a:endParaRPr lang="en-US" sz="1500" dirty="0"/>
          </a:p>
        </p:txBody>
      </p:sp>
      <p:sp>
        <p:nvSpPr>
          <p:cNvPr id="15" name="Text 13"/>
          <p:cNvSpPr txBox="1"/>
          <p:nvPr/>
        </p:nvSpPr>
        <p:spPr>
          <a:xfrm>
            <a:off x="8366760" y="1847088"/>
            <a:ext cx="3200400" cy="265176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 Monthly budget: alerts at 80% actual, 100% forecast</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Watch ALB, public IPv4, Route 53, domain</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ASG capped at 3 instances</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Teardown owner and order agreed</a:t>
            </a:r>
            <a:endParaRPr lang="en-US" sz="1250" dirty="0"/>
          </a:p>
        </p:txBody>
      </p:sp>
      <p:sp>
        <p:nvSpPr>
          <p:cNvPr id="16" name="Shape 14"/>
          <p:cNvSpPr/>
          <p:nvPr/>
        </p:nvSpPr>
        <p:spPr>
          <a:xfrm>
            <a:off x="457200" y="4846320"/>
            <a:ext cx="11247120" cy="1188720"/>
          </a:xfrm>
          <a:prstGeom prst="rect">
            <a:avLst/>
          </a:prstGeom>
          <a:solidFill>
            <a:srgbClr val="1F2A44"/>
          </a:solidFill>
          <a:ln w="12700">
            <a:solidFill>
              <a:srgbClr val="1F2A44"/>
            </a:solidFill>
            <a:prstDash val="solid"/>
          </a:ln>
        </p:spPr>
      </p:sp>
      <p:sp>
        <p:nvSpPr>
          <p:cNvPr id="17" name="Text 15"/>
          <p:cNvSpPr txBox="1"/>
          <p:nvPr/>
        </p:nvSpPr>
        <p:spPr>
          <a:xfrm>
            <a:off x="731520" y="4846320"/>
            <a:ext cx="10698480" cy="1188720"/>
          </a:xfrm>
          <a:prstGeom prst="rect">
            <a:avLst/>
          </a:prstGeom>
          <a:noFill/>
          <a:ln/>
        </p:spPr>
        <p:txBody>
          <a:bodyPr wrap="square" lIns="0" tIns="0" rIns="0" bIns="0" rtlCol="0" anchor="ctr"/>
          <a:lstStyle/>
          <a:p>
            <a:pPr marL="0" indent="0">
              <a:buNone/>
            </a:pPr>
            <a:r>
              <a:rPr lang="en-US" sz="1400" b="1" dirty="0">
                <a:solidFill>
                  <a:srgbClr val="FB923C"/>
                </a:solidFill>
                <a:latin typeface="Arial" pitchFamily="34" charset="0"/>
                <a:ea typeface="Arial" pitchFamily="34" charset="-122"/>
                <a:cs typeface="Arial" pitchFamily="34" charset="-120"/>
              </a:rPr>
              <a:t>Evidence plan  </a:t>
            </a:r>
            <a:r>
              <a:rPr lang="en-US" sz="1400" dirty="0">
                <a:solidFill>
                  <a:srgbClr val="FFFFFF"/>
                </a:solidFill>
                <a:latin typeface="Arial" pitchFamily="34" charset="0"/>
                <a:ea typeface="Arial" pitchFamily="34" charset="-122"/>
                <a:cs typeface="Arial" pitchFamily="34" charset="-120"/>
              </a:rPr>
              <a:t>Page-load before/after  |  stop one instance, traffic continues  |  HTTPS and blocked-bypass tests  |  live deployment from a push  |  alarm email received  |  budget screenshot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Decisions I need from you today</a:t>
            </a:r>
            <a:endParaRPr lang="en-US" sz="2800" dirty="0"/>
          </a:p>
        </p:txBody>
      </p:sp>
      <p:sp>
        <p:nvSpPr>
          <p:cNvPr id="3" name="Shape 1"/>
          <p:cNvSpPr/>
          <p:nvPr/>
        </p:nvSpPr>
        <p:spPr>
          <a:xfrm>
            <a:off x="457200" y="914400"/>
            <a:ext cx="1097280" cy="64008"/>
          </a:xfrm>
          <a:prstGeom prst="rect">
            <a:avLst/>
          </a:prstGeom>
          <a:solidFill>
            <a:srgbClr val="EA580C"/>
          </a:solidFill>
          <a:ln w="12700">
            <a:solidFill>
              <a:srgbClr val="EA580C"/>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6949440" cy="4114800"/>
        </p:xfrm>
        <a:graphic>
          <a:graphicData uri="http://schemas.openxmlformats.org/drawingml/2006/table">
            <a:tbl>
              <a:tblPr/>
              <a:tblGrid>
                <a:gridCol w="18288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685800">
                <a:tc>
                  <a:txBody>
                    <a:bodyPr/>
                    <a:lstStyle/>
                    <a:p>
                      <a:pPr marL="0" indent="0">
                        <a:buNone/>
                      </a:pPr>
                      <a:r>
                        <a:rPr lang="en-US" sz="1250" b="1" dirty="0">
                          <a:solidFill>
                            <a:srgbClr val="FFFFFF"/>
                          </a:solidFill>
                          <a:latin typeface="Arial" pitchFamily="34" charset="0"/>
                          <a:ea typeface="Arial" pitchFamily="34" charset="-122"/>
                          <a:cs typeface="Arial" pitchFamily="34" charset="-120"/>
                        </a:rPr>
                        <a:t>Decision</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My recommendation</a:t>
                      </a:r>
                      <a:endParaRPr lang="en-US" sz="125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5800">
                <a:tc>
                  <a:txBody>
                    <a:bodyPr/>
                    <a:lstStyle/>
                    <a:p>
                      <a:pPr marL="0" indent="0">
                        <a:buNone/>
                      </a:pPr>
                      <a:r>
                        <a:rPr lang="en-US" sz="1200" b="1" dirty="0">
                          <a:solidFill>
                            <a:srgbClr val="1F2937"/>
                          </a:solidFill>
                          <a:latin typeface="Arial" pitchFamily="34" charset="0"/>
                          <a:ea typeface="Arial" pitchFamily="34" charset="-122"/>
                          <a:cs typeface="Arial" pitchFamily="34" charset="-120"/>
                        </a:rPr>
                        <a:t>Region and domain</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One region for everything; ACM for CloudFront in us-east-1. A custom domain is needed for ACM certificates.</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200" b="1" dirty="0">
                          <a:solidFill>
                            <a:srgbClr val="1F2937"/>
                          </a:solidFill>
                          <a:latin typeface="Arial" pitchFamily="34" charset="0"/>
                          <a:ea typeface="Arial" pitchFamily="34" charset="-122"/>
                          <a:cs typeface="Arial" pitchFamily="34" charset="-120"/>
                        </a:rPr>
                        <a:t>Network model</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Public subnets in 2 AZs, locked down by security groups (no NAT cost). Private subnets as a later upgrade.</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200" b="1" dirty="0">
                          <a:solidFill>
                            <a:srgbClr val="1F2937"/>
                          </a:solidFill>
                          <a:latin typeface="Arial" pitchFamily="34" charset="0"/>
                          <a:ea typeface="Arial" pitchFamily="34" charset="-122"/>
                          <a:cs typeface="Arial" pitchFamily="34" charset="-120"/>
                        </a:rPr>
                        <a:t>Deployment method</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SSM Run Command via GitHub OIDC; restricted SSH only if the mentor requires it.</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indent="0">
                        <a:buNone/>
                      </a:pPr>
                      <a:r>
                        <a:rPr lang="en-US" sz="1200" b="1" dirty="0">
                          <a:solidFill>
                            <a:srgbClr val="1F2937"/>
                          </a:solidFill>
                          <a:latin typeface="Arial" pitchFamily="34" charset="0"/>
                          <a:ea typeface="Arial" pitchFamily="34" charset="-122"/>
                          <a:cs typeface="Arial" pitchFamily="34" charset="-120"/>
                        </a:rPr>
                        <a:t>Auto Scaling</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Adopt: min 1 / desired 2 / max 3, CPU target 50%.</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685800">
                <a:tc>
                  <a:txBody>
                    <a:bodyPr/>
                    <a:lstStyle/>
                    <a:p>
                      <a:pPr marL="0" indent="0">
                        <a:buNone/>
                      </a:pPr>
                      <a:r>
                        <a:rPr lang="en-US" sz="1200" b="1" dirty="0">
                          <a:solidFill>
                            <a:srgbClr val="1F2937"/>
                          </a:solidFill>
                          <a:latin typeface="Arial" pitchFamily="34" charset="0"/>
                          <a:ea typeface="Arial" pitchFamily="34" charset="-122"/>
                          <a:cs typeface="Arial" pitchFamily="34" charset="-120"/>
                        </a:rPr>
                        <a:t>Cost guardrail</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Agree a monthly budget; confirm ALB is covered by our Free Tier model.</a:t>
                      </a:r>
                      <a:endParaRPr lang="en-US" sz="1200" dirty="0">
                        <a:latin typeface="Arial" charset="0"/>
                        <a:ea typeface="Arial" charset="0"/>
                        <a:cs typeface="Arial"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680960" y="1325880"/>
            <a:ext cx="4023360" cy="2286000"/>
          </a:xfrm>
          <a:prstGeom prst="rect">
            <a:avLst/>
          </a:prstGeom>
          <a:solidFill>
            <a:srgbClr val="F3F4F6"/>
          </a:solidFill>
          <a:ln w="9525">
            <a:solidFill>
              <a:srgbClr val="D1D5DB"/>
            </a:solidFill>
            <a:prstDash val="solid"/>
          </a:ln>
        </p:spPr>
      </p:sp>
      <p:sp>
        <p:nvSpPr>
          <p:cNvPr id="6" name="Shape 3"/>
          <p:cNvSpPr/>
          <p:nvPr/>
        </p:nvSpPr>
        <p:spPr>
          <a:xfrm>
            <a:off x="7680960" y="1325880"/>
            <a:ext cx="82296" cy="2286000"/>
          </a:xfrm>
          <a:prstGeom prst="rect">
            <a:avLst/>
          </a:prstGeom>
          <a:solidFill>
            <a:srgbClr val="EA580C"/>
          </a:solidFill>
          <a:ln w="12700">
            <a:solidFill>
              <a:srgbClr val="EA580C"/>
            </a:solidFill>
            <a:prstDash val="solid"/>
          </a:ln>
        </p:spPr>
      </p:sp>
      <p:sp>
        <p:nvSpPr>
          <p:cNvPr id="7" name="Text 4"/>
          <p:cNvSpPr txBox="1"/>
          <p:nvPr/>
        </p:nvSpPr>
        <p:spPr>
          <a:xfrm>
            <a:off x="7909560" y="1417320"/>
            <a:ext cx="3657600" cy="365760"/>
          </a:xfrm>
          <a:prstGeom prst="rect">
            <a:avLst/>
          </a:prstGeom>
          <a:noFill/>
          <a:ln/>
        </p:spPr>
        <p:txBody>
          <a:bodyPr wrap="square" lIns="0" tIns="0" rIns="0" bIns="0" rtlCol="0" anchor="ctr"/>
          <a:lstStyle/>
          <a:p>
            <a:pPr marL="0" indent="0">
              <a:buNone/>
            </a:pPr>
            <a:r>
              <a:rPr lang="en-US" sz="1500" b="1" dirty="0">
                <a:solidFill>
                  <a:srgbClr val="EA580C"/>
                </a:solidFill>
                <a:latin typeface="Arial" pitchFamily="34" charset="0"/>
                <a:ea typeface="Arial" pitchFamily="34" charset="-122"/>
                <a:cs typeface="Arial" pitchFamily="34" charset="-120"/>
              </a:rPr>
              <a:t>Main risks</a:t>
            </a:r>
            <a:endParaRPr lang="en-US" sz="1500" dirty="0"/>
          </a:p>
        </p:txBody>
      </p:sp>
      <p:sp>
        <p:nvSpPr>
          <p:cNvPr id="4" name="Text 5"/>
          <p:cNvSpPr txBox="1"/>
          <p:nvPr/>
        </p:nvSpPr>
        <p:spPr>
          <a:xfrm>
            <a:off x="7909560" y="1801368"/>
            <a:ext cx="3657600" cy="173736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 Surprise charges: budget alerts, cleanup owner</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Certificate region/validation: request early</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 CloudFront 502/504: matching origin cert, test before lock-down</a:t>
            </a:r>
            <a:endParaRPr lang="en-US" sz="1250" dirty="0"/>
          </a:p>
        </p:txBody>
      </p:sp>
      <p:sp>
        <p:nvSpPr>
          <p:cNvPr id="9" name="Shape 6"/>
          <p:cNvSpPr/>
          <p:nvPr/>
        </p:nvSpPr>
        <p:spPr>
          <a:xfrm>
            <a:off x="7680960" y="3794760"/>
            <a:ext cx="4023360" cy="2103120"/>
          </a:xfrm>
          <a:prstGeom prst="rect">
            <a:avLst/>
          </a:prstGeom>
          <a:solidFill>
            <a:srgbClr val="F3F4F6"/>
          </a:solidFill>
          <a:ln w="9525">
            <a:solidFill>
              <a:srgbClr val="D1D5DB"/>
            </a:solidFill>
            <a:prstDash val="solid"/>
          </a:ln>
        </p:spPr>
      </p:sp>
      <p:sp>
        <p:nvSpPr>
          <p:cNvPr id="10" name="Shape 7"/>
          <p:cNvSpPr/>
          <p:nvPr/>
        </p:nvSpPr>
        <p:spPr>
          <a:xfrm>
            <a:off x="7680960" y="3794760"/>
            <a:ext cx="82296" cy="2103120"/>
          </a:xfrm>
          <a:prstGeom prst="rect">
            <a:avLst/>
          </a:prstGeom>
          <a:solidFill>
            <a:srgbClr val="15803D"/>
          </a:solidFill>
          <a:ln w="12700">
            <a:solidFill>
              <a:srgbClr val="15803D"/>
            </a:solidFill>
            <a:prstDash val="solid"/>
          </a:ln>
        </p:spPr>
      </p:sp>
      <p:sp>
        <p:nvSpPr>
          <p:cNvPr id="11" name="Text 8"/>
          <p:cNvSpPr txBox="1"/>
          <p:nvPr/>
        </p:nvSpPr>
        <p:spPr>
          <a:xfrm>
            <a:off x="7909560" y="3886200"/>
            <a:ext cx="3657600" cy="365760"/>
          </a:xfrm>
          <a:prstGeom prst="rect">
            <a:avLst/>
          </a:prstGeom>
          <a:noFill/>
          <a:ln/>
        </p:spPr>
        <p:txBody>
          <a:bodyPr wrap="square" lIns="0" tIns="0" rIns="0" bIns="0" rtlCol="0" anchor="ctr"/>
          <a:lstStyle/>
          <a:p>
            <a:pPr marL="0" indent="0">
              <a:buNone/>
            </a:pPr>
            <a:r>
              <a:rPr lang="en-US" sz="1500" b="1" dirty="0">
                <a:solidFill>
                  <a:srgbClr val="15803D"/>
                </a:solidFill>
                <a:latin typeface="Arial" pitchFamily="34" charset="0"/>
                <a:ea typeface="Arial" pitchFamily="34" charset="-122"/>
                <a:cs typeface="Arial" pitchFamily="34" charset="-120"/>
              </a:rPr>
              <a:t>Next steps</a:t>
            </a:r>
            <a:endParaRPr lang="en-US" sz="1500" dirty="0"/>
          </a:p>
        </p:txBody>
      </p:sp>
      <p:sp>
        <p:nvSpPr>
          <p:cNvPr id="12" name="Text 9"/>
          <p:cNvSpPr txBox="1"/>
          <p:nvPr/>
        </p:nvSpPr>
        <p:spPr>
          <a:xfrm>
            <a:off x="7909560" y="4270248"/>
            <a:ext cx="3657600" cy="155448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Arial" pitchFamily="34" charset="0"/>
                <a:ea typeface="Arial" pitchFamily="34" charset="-122"/>
                <a:cs typeface="Arial" pitchFamily="34" charset="-120"/>
              </a:rPr>
              <a:t>1. Approve design and owners</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2. Phase 1 setup and certificates</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3. Build and validate phase by phase</a:t>
            </a:r>
            <a:endParaRPr lang="en-US" sz="1250" dirty="0"/>
          </a:p>
          <a:p>
            <a:pPr marL="0" indent="0">
              <a:spcAft>
                <a:spcPts val="400"/>
              </a:spcAft>
              <a:buNone/>
            </a:pPr>
            <a:r>
              <a:rPr lang="en-US" sz="1250" dirty="0">
                <a:solidFill>
                  <a:srgbClr val="1F2937"/>
                </a:solidFill>
                <a:latin typeface="Arial" pitchFamily="34" charset="0"/>
                <a:ea typeface="Arial" pitchFamily="34" charset="-122"/>
                <a:cs typeface="Arial" pitchFamily="34" charset="-120"/>
              </a:rPr>
              <a:t>4. Demo with evidence</a:t>
            </a:r>
            <a:endParaRPr lang="en-US" sz="1250" dirty="0"/>
          </a:p>
        </p:txBody>
      </p:sp>
      <p:sp>
        <p:nvSpPr>
          <p:cNvPr id="13" name="Text 10"/>
          <p:cNvSpPr txBox="1"/>
          <p:nvPr/>
        </p:nvSpPr>
        <p:spPr>
          <a:xfrm>
            <a:off x="457200" y="5897880"/>
            <a:ext cx="11247120" cy="411480"/>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Ask: approve the architecture and cost guardrails so implementation can start.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1198</Words>
  <Application>Microsoft Office PowerPoint</Application>
  <PresentationFormat>Widescreen</PresentationFormat>
  <Paragraphs>148</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Architecture Proposal</dc:title>
  <dc:subject>PptxGenJS Presentation</dc:subject>
  <dc:creator>PptxGenJS</dc:creator>
  <cp:lastModifiedBy>Jonathan Annan</cp:lastModifiedBy>
  <cp:revision>1</cp:revision>
  <dcterms:created xsi:type="dcterms:W3CDTF">2026-10-28T07:19:46Z</dcterms:created>
  <dcterms:modified xsi:type="dcterms:W3CDTF">2026-10-28T07:26:08Z</dcterms:modified>
</cp:coreProperties>
</file>